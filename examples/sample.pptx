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2731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2148840"/>
            <a:ext cx="1371600" cy="1371600"/>
          </a:xfrm>
          <a:prstGeom prst="ellipse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292608" cy="292608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94560"/>
            <a:ext cx="6583680" cy="1463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94760"/>
            <a:ext cx="6400800" cy="73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292608" cy="292608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355080"/>
            <a:ext cx="10725912" cy="2286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502920"/>
            <a:ext cx="10058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508760"/>
            <a:ext cx="10607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31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880360"/>
            <a:ext cx="128016" cy="1097280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651760"/>
            <a:ext cx="9418320" cy="15544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9418320" cy="5486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292608" cy="292608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355080"/>
            <a:ext cx="10725912" cy="2286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502920"/>
            <a:ext cx="10058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31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34456" y="2331720"/>
            <a:ext cx="310896" cy="310896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88920"/>
            <a:ext cx="9445752" cy="12801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l"/>
            <a:r>
              <a:rPr sz="4400" b="1">
                <a:solidFill>
                  <a:srgbClr val="131722"/>
                </a:solidFill>
                <a:latin typeface="Noto Sans JP"/>
              </a:rPr>
              <a:t>四半期サマリー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5A6473"/>
                </a:solidFill>
                <a:latin typeface="Noto Sans JP"/>
              </a:rPr>
              <a:t>2026.01.01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sz="3600" b="1">
                <a:solidFill>
                  <a:srgbClr val="FFFFFF"/>
                </a:solidFill>
                <a:latin typeface="Noto Sans JP"/>
              </a:rPr>
              <a:t>01. ハイライト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31722"/>
                </a:solidFill>
                <a:latin typeface="Noto Sans JP"/>
              </a:rPr>
              <a:t>今四半期のハイライト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3301898" cy="1463040"/>
          </a:xfrm>
          <a:prstGeom prst="roundRect">
            <a:avLst>
              <a:gd name="adj" fmla="val 6250"/>
            </a:avLst>
          </a:prstGeom>
          <a:solidFill>
            <a:srgbClr val="F4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3301898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5B6CFF"/>
                </a:solidFill>
              </a:defRPr>
            </a:pPr>
            <a:r>
              <a:t>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33472"/>
            <a:ext cx="330189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新規導入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4898" y="1828800"/>
            <a:ext cx="3301898" cy="1463040"/>
          </a:xfrm>
          <a:prstGeom prst="roundRect">
            <a:avLst>
              <a:gd name="adj" fmla="val 6250"/>
            </a:avLst>
          </a:prstGeom>
          <a:solidFill>
            <a:srgbClr val="F4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4898" y="1828800"/>
            <a:ext cx="3301898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5B6CFF"/>
                </a:solidFill>
              </a:defRPr>
            </a:pPr>
            <a: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2633472"/>
            <a:ext cx="330189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継続率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2556" y="1828800"/>
            <a:ext cx="3301898" cy="1463040"/>
          </a:xfrm>
          <a:prstGeom prst="roundRect">
            <a:avLst>
              <a:gd name="adj" fmla="val 6250"/>
            </a:avLst>
          </a:prstGeom>
          <a:solidFill>
            <a:srgbClr val="F4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2556" y="1828800"/>
            <a:ext cx="3301898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5B6CFF"/>
                </a:solidFill>
              </a:defRPr>
            </a:pPr>
            <a:r>
              <a:t>4.6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2556" y="2633472"/>
            <a:ext cx="330189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満足度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40480"/>
            <a:ext cx="10637215" cy="274320"/>
          </a:xfrm>
          <a:prstGeom prst="roundRect">
            <a:avLst>
              <a:gd name="adj" fmla="val 33333"/>
            </a:avLst>
          </a:prstGeom>
          <a:solidFill>
            <a:srgbClr val="F4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840480"/>
            <a:ext cx="7658794" cy="274320"/>
          </a:xfrm>
          <a:prstGeom prst="roundRect">
            <a:avLst>
              <a:gd name="adj" fmla="val 33333"/>
            </a:avLst>
          </a:prstGeom>
          <a:solidFill>
            <a:srgbClr val="5B6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31722"/>
                </a:solidFill>
                <a:latin typeface="Noto Sans JP"/>
              </a:rPr>
              <a:t>導入の流れ</a:t>
            </a:r>
          </a:p>
        </p:txBody>
      </p:sp>
      <p:sp>
        <p:nvSpPr>
          <p:cNvPr id="3" name="Oval 2"/>
          <p:cNvSpPr/>
          <p:nvPr/>
        </p:nvSpPr>
        <p:spPr>
          <a:xfrm>
            <a:off x="2275789" y="2194560"/>
            <a:ext cx="548640" cy="548640"/>
          </a:xfrm>
          <a:prstGeom prst="ellipse">
            <a:avLst/>
          </a:prstGeom>
          <a:solidFill>
            <a:srgbClr val="5B6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75789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35457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31722"/>
                </a:solidFill>
              </a:defRPr>
            </a:pPr>
            <a:r>
              <a:t>申し込み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40098" y="2331720"/>
            <a:ext cx="365760" cy="274320"/>
          </a:xfrm>
          <a:prstGeom prst="rightArrow">
            <a:avLst/>
          </a:prstGeom>
          <a:solidFill>
            <a:srgbClr val="C7C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21527" y="2194560"/>
            <a:ext cx="548640" cy="548640"/>
          </a:xfrm>
          <a:prstGeom prst="ellipse">
            <a:avLst/>
          </a:prstGeom>
          <a:solidFill>
            <a:srgbClr val="5B6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1527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978" y="2834640"/>
            <a:ext cx="35457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31722"/>
                </a:solidFill>
              </a:defRPr>
            </a:pPr>
            <a:r>
              <a:t>初期設定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85836" y="2331720"/>
            <a:ext cx="365760" cy="274320"/>
          </a:xfrm>
          <a:prstGeom prst="rightArrow">
            <a:avLst/>
          </a:prstGeom>
          <a:solidFill>
            <a:srgbClr val="C7C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67265" y="2194560"/>
            <a:ext cx="548640" cy="548640"/>
          </a:xfrm>
          <a:prstGeom prst="ellipse">
            <a:avLst/>
          </a:prstGeom>
          <a:solidFill>
            <a:srgbClr val="5B6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7265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8716" y="2834640"/>
            <a:ext cx="35457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31722"/>
                </a:solidFill>
              </a:defRPr>
            </a:pPr>
            <a:r>
              <a:t>本番運用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31722"/>
                </a:solidFill>
                <a:latin typeface="Noto Sans JP"/>
              </a:rPr>
              <a:t>プラン比較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828800"/>
          <a:ext cx="1063721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722"/>
                          </a:solidFill>
                          <a:latin typeface="Noto Sans JP"/>
                        </a:rPr>
                        <a:t>プラン</a:t>
                      </a:r>
                    </a:p>
                  </a:txBody>
                  <a:tcPr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722"/>
                          </a:solidFill>
                          <a:latin typeface="Noto Sans JP"/>
                        </a:rPr>
                        <a:t>月額</a:t>
                      </a:r>
                    </a:p>
                  </a:txBody>
                  <a:tcPr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722"/>
                          </a:solidFill>
                          <a:latin typeface="Noto Sans JP"/>
                        </a:rPr>
                        <a:t>サポート</a:t>
                      </a:r>
                    </a:p>
                  </a:txBody>
                  <a:tcPr>
                    <a:solidFill>
                      <a:srgbClr val="F4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コミュニティ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1,980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メール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要相談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2"/>
                          </a:solidFill>
                          <a:latin typeface="Noto Sans JP"/>
                        </a:rPr>
                        <a:t>専任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31722"/>
                </a:solidFill>
                <a:latin typeface="Noto Sans JP"/>
              </a:rPr>
              <a:t>次のアクション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 b="0">
                <a:solidFill>
                  <a:srgbClr val="131722"/>
                </a:solidFill>
                <a:latin typeface="Noto Sans JP"/>
              </a:rPr>
              <a:t>オンボーディング資料の整備</a:t>
            </a:r>
          </a:p>
          <a:p>
            <a:pPr algn="l"/>
            <a:r>
              <a:rPr sz="1600" b="0">
                <a:solidFill>
                  <a:srgbClr val="131722"/>
                </a:solidFill>
                <a:latin typeface="Noto Sans JP"/>
              </a:rPr>
              <a:t>フィードバック収集の仕組み化</a:t>
            </a:r>
          </a:p>
          <a:p>
            <a:pPr algn="l"/>
            <a:r>
              <a:rPr sz="1600" b="0">
                <a:solidFill>
                  <a:srgbClr val="131722"/>
                </a:solidFill>
                <a:latin typeface="Noto Sans JP"/>
              </a:rPr>
              <a:t>次四半期の目標設定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JP"/>
              </a:rP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