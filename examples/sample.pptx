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29600" y="0"/>
            <a:ext cx="39620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543800" y="2148840"/>
            <a:ext cx="1371600" cy="1371600"/>
          </a:xfrm>
          <a:prstGeom prst="ellipse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2194560"/>
            <a:ext cx="6583680" cy="14630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2960" y="3794760"/>
            <a:ext cx="6400800" cy="7315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66928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5912" cy="22860"/>
          </a:xfrm>
          <a:prstGeom prst="rect">
            <a:avLst/>
          </a:prstGeom>
          <a:solidFill>
            <a:srgbClr val="E2E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502920"/>
            <a:ext cx="10058400" cy="685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240" y="1508760"/>
            <a:ext cx="10607040" cy="4572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880360"/>
            <a:ext cx="128016" cy="1097280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2651760"/>
            <a:ext cx="9418320" cy="155448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057400"/>
            <a:ext cx="9418320" cy="5486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66928"/>
            <a:ext cx="292608" cy="292608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355080"/>
            <a:ext cx="10725912" cy="22860"/>
          </a:xfrm>
          <a:prstGeom prst="rect">
            <a:avLst/>
          </a:prstGeom>
          <a:solidFill>
            <a:srgbClr val="E2E5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8720" y="502920"/>
            <a:ext cx="10058400" cy="685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31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34456" y="2331720"/>
            <a:ext cx="310896" cy="310896"/>
          </a:xfrm>
          <a:prstGeom prst="rect">
            <a:avLst/>
          </a:prstGeom>
          <a:solidFill>
            <a:srgbClr val="5B6C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2788920"/>
            <a:ext cx="9445752" cy="12801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ctr"/>
          <a:lstStyle/>
          <a:p>
            <a:pPr algn="l"/>
            <a:r>
              <a:rPr sz="4400" b="1">
                <a:solidFill>
                  <a:srgbClr val="131722"/>
                </a:solidFill>
                <a:latin typeface="Noto Sans JP"/>
              </a:rPr>
              <a:t>四半期サマリー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800" b="0">
                <a:solidFill>
                  <a:srgbClr val="5A6473"/>
                </a:solidFill>
                <a:latin typeface="Noto Sans JP"/>
              </a:rPr>
              <a:t>2026.01.01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l"/>
            <a:r>
              <a:rPr sz="3600" b="1">
                <a:solidFill>
                  <a:srgbClr val="FFFFFF"/>
                </a:solidFill>
                <a:latin typeface="Noto Sans JP"/>
              </a:rPr>
              <a:t>01. ハイライト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131722"/>
                </a:solidFill>
                <a:latin typeface="Noto Sans JP"/>
              </a:rPr>
              <a:t>今四半期のハイライト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01898" cy="1463040"/>
          </a:xfrm>
          <a:prstGeom prst="roundRect">
            <a:avLst>
              <a:gd name="adj" fmla="val 6250"/>
            </a:avLst>
          </a:prstGeom>
          <a:solidFill>
            <a:srgbClr val="F4F5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3301898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5B6CFF"/>
                </a:solidFill>
              </a:defRPr>
            </a:pPr>
            <a:r>
              <a:t>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33472"/>
            <a:ext cx="330189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A6473"/>
                </a:solidFill>
              </a:defRPr>
            </a:pPr>
            <a:r>
              <a:t>新規導入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4898" y="1828800"/>
            <a:ext cx="3301898" cy="1463040"/>
          </a:xfrm>
          <a:prstGeom prst="roundRect">
            <a:avLst>
              <a:gd name="adj" fmla="val 6250"/>
            </a:avLst>
          </a:prstGeom>
          <a:solidFill>
            <a:srgbClr val="F4F5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4898" y="1828800"/>
            <a:ext cx="3301898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5B6CFF"/>
                </a:solidFill>
              </a:defRPr>
            </a:pPr>
            <a: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898" y="2633472"/>
            <a:ext cx="330189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A6473"/>
                </a:solidFill>
              </a:defRPr>
            </a:pPr>
            <a:r>
              <a:t>継続率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2556" y="1828800"/>
            <a:ext cx="3301898" cy="1463040"/>
          </a:xfrm>
          <a:prstGeom prst="roundRect">
            <a:avLst>
              <a:gd name="adj" fmla="val 6250"/>
            </a:avLst>
          </a:prstGeom>
          <a:solidFill>
            <a:srgbClr val="F4F5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12556" y="1828800"/>
            <a:ext cx="3301898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000" b="1">
                <a:solidFill>
                  <a:srgbClr val="5B6CFF"/>
                </a:solidFill>
              </a:defRPr>
            </a:pPr>
            <a:r>
              <a:t>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2556" y="2633472"/>
            <a:ext cx="330189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200">
                <a:solidFill>
                  <a:srgbClr val="5A6473"/>
                </a:solidFill>
              </a:defRPr>
            </a:pPr>
            <a:r>
              <a:t>満足度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10637215" cy="274320"/>
          </a:xfrm>
          <a:prstGeom prst="roundRect">
            <a:avLst>
              <a:gd name="adj" fmla="val 33333"/>
            </a:avLst>
          </a:prstGeom>
          <a:solidFill>
            <a:srgbClr val="F4F5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840480"/>
            <a:ext cx="7658794" cy="274320"/>
          </a:xfrm>
          <a:prstGeom prst="roundRect">
            <a:avLst>
              <a:gd name="adj" fmla="val 33333"/>
            </a:avLst>
          </a:prstGeom>
          <a:solidFill>
            <a:srgbClr val="5B6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131722"/>
                </a:solidFill>
                <a:latin typeface="Noto Sans JP"/>
              </a:rPr>
              <a:t>導入の流れ</a:t>
            </a:r>
          </a:p>
        </p:txBody>
      </p:sp>
      <p:sp>
        <p:nvSpPr>
          <p:cNvPr id="3" name="Oval 2"/>
          <p:cNvSpPr/>
          <p:nvPr/>
        </p:nvSpPr>
        <p:spPr>
          <a:xfrm>
            <a:off x="2275789" y="2194560"/>
            <a:ext cx="548640" cy="548640"/>
          </a:xfrm>
          <a:prstGeom prst="ellipse">
            <a:avLst/>
          </a:prstGeom>
          <a:solidFill>
            <a:srgbClr val="5B6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75789" y="21945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34640"/>
            <a:ext cx="35457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131722"/>
                </a:solidFill>
              </a:defRPr>
            </a:pPr>
            <a:r>
              <a:t>申し込み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40098" y="2331720"/>
            <a:ext cx="365760" cy="274320"/>
          </a:xfrm>
          <a:prstGeom prst="rightArrow">
            <a:avLst/>
          </a:prstGeom>
          <a:solidFill>
            <a:srgbClr val="C7C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21527" y="2194560"/>
            <a:ext cx="548640" cy="548640"/>
          </a:xfrm>
          <a:prstGeom prst="ellipse">
            <a:avLst/>
          </a:prstGeom>
          <a:solidFill>
            <a:srgbClr val="5B6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1527" y="21945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978" y="2834640"/>
            <a:ext cx="35457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131722"/>
                </a:solidFill>
              </a:defRPr>
            </a:pPr>
            <a:r>
              <a:t>初期設定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685836" y="2331720"/>
            <a:ext cx="365760" cy="274320"/>
          </a:xfrm>
          <a:prstGeom prst="rightArrow">
            <a:avLst/>
          </a:prstGeom>
          <a:solidFill>
            <a:srgbClr val="C7C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67265" y="2194560"/>
            <a:ext cx="548640" cy="548640"/>
          </a:xfrm>
          <a:prstGeom prst="ellipse">
            <a:avLst/>
          </a:prstGeom>
          <a:solidFill>
            <a:srgbClr val="5B6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7265" y="21945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8716" y="2834640"/>
            <a:ext cx="35457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131722"/>
                </a:solidFill>
              </a:defRPr>
            </a:pPr>
            <a:r>
              <a:t>本番運用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131722"/>
                </a:solidFill>
                <a:latin typeface="Noto Sans JP"/>
              </a:rPr>
              <a:t>プラン比較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45738"/>
                <a:gridCol w="3545738"/>
                <a:gridCol w="35457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722"/>
                          </a:solidFill>
                          <a:latin typeface="Noto Sans JP"/>
                        </a:rPr>
                        <a:t>プラン</a:t>
                      </a:r>
                    </a:p>
                  </a:txBody>
                  <a:tcPr>
                    <a:solidFill>
                      <a:srgbClr val="F4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722"/>
                          </a:solidFill>
                          <a:latin typeface="Noto Sans JP"/>
                        </a:rPr>
                        <a:t>月額</a:t>
                      </a:r>
                    </a:p>
                  </a:txBody>
                  <a:tcPr>
                    <a:solidFill>
                      <a:srgbClr val="F4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722"/>
                          </a:solidFill>
                          <a:latin typeface="Noto Sans JP"/>
                        </a:rPr>
                        <a:t>サポート</a:t>
                      </a:r>
                    </a:p>
                  </a:txBody>
                  <a:tcPr>
                    <a:solidFill>
                      <a:srgbClr val="F4F5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コミュニティ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1,980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メール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要相談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31722"/>
                          </a:solidFill>
                          <a:latin typeface="Noto Sans JP"/>
                        </a:rPr>
                        <a:t>専任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131722"/>
                </a:solidFill>
                <a:latin typeface="Noto Sans JP"/>
              </a:rPr>
              <a:t>次のアクション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 b="0">
                <a:solidFill>
                  <a:srgbClr val="131722"/>
                </a:solidFill>
                <a:latin typeface="Noto Sans JP"/>
              </a:rPr>
              <a:t>オンボーディング資料の整備</a:t>
            </a:r>
          </a:p>
          <a:p>
            <a:pPr algn="l"/>
            <a:r>
              <a:rPr sz="1600" b="0">
                <a:solidFill>
                  <a:srgbClr val="131722"/>
                </a:solidFill>
                <a:latin typeface="Noto Sans JP"/>
              </a:rPr>
              <a:t>フィードバック収集の仕組み化</a:t>
            </a:r>
          </a:p>
          <a:p>
            <a:pPr algn="l"/>
            <a:r>
              <a:rPr sz="1600" b="0">
                <a:solidFill>
                  <a:srgbClr val="131722"/>
                </a:solidFill>
                <a:latin typeface="Noto Sans JP"/>
              </a:rPr>
              <a:t>次四半期の目標設定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algn="ctr"/>
            <a:r>
              <a:rPr sz="3600" b="1">
                <a:solidFill>
                  <a:srgbClr val="FFFFFF"/>
                </a:solidFill>
                <a:latin typeface="Noto Sans JP"/>
              </a:rPr>
              <a:t>ご清聴ありがとうございました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